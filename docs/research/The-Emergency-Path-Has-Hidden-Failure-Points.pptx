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Crimson Pro Semi Bold"/>
      <p:regular r:id="rId12"/>
    </p:embeddedFont>
    <p:embeddedFont>
      <p:font typeface="Crimson Pro Semi Bold"/>
      <p:regular r:id="rId13"/>
    </p:embeddedFont>
    <p:embeddedFont>
      <p:font typeface="Crimson Pro Semi Bold"/>
      <p:regular r:id="rId14"/>
    </p:embeddedFont>
    <p:embeddedFont>
      <p:font typeface="Crimson Pro Semi Bold"/>
      <p:regular r:id="rId15"/>
    </p:embeddedFont>
    <p:embeddedFont>
      <p:font typeface="Heebo"/>
      <p:regular r:id="rId16"/>
    </p:embeddedFont>
    <p:embeddedFont>
      <p:font typeface="Heebo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79821"/>
            <a:ext cx="109768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The Emergency Path Has Hidden Failure Points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4222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Emergency inefficiency is often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spatial, operational, and cumulative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160282"/>
            <a:ext cx="130428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Crash cart too far from high-acuity rooms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Stretcher pathway narrowed by corridor clutter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Discharge staging blocking clean egress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Medication workflows routed through high-traffic zones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80599"/>
            <a:ext cx="1148953" cy="370642"/>
          </a:xfrm>
          <a:prstGeom prst="roundRect">
            <a:avLst>
              <a:gd name="adj" fmla="val 6609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916186" y="1041797"/>
            <a:ext cx="904161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CDC / NCHS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044779" y="972979"/>
            <a:ext cx="627102" cy="385882"/>
          </a:xfrm>
          <a:prstGeom prst="roundRect">
            <a:avLst>
              <a:gd name="adj" fmla="val 6348"/>
            </a:avLst>
          </a:prstGeom>
          <a:noFill/>
          <a:ln w="7620">
            <a:solidFill>
              <a:srgbClr val="2150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74796" y="1041797"/>
            <a:ext cx="36707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2024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73918" y="972979"/>
            <a:ext cx="857488" cy="385882"/>
          </a:xfrm>
          <a:prstGeom prst="roundRect">
            <a:avLst>
              <a:gd name="adj" fmla="val 6348"/>
            </a:avLst>
          </a:prstGeom>
          <a:noFill/>
          <a:ln w="7620">
            <a:solidFill>
              <a:srgbClr val="2150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03934" y="1041797"/>
            <a:ext cx="597456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VIZIENT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93790" y="1432322"/>
            <a:ext cx="5196721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The Scale of the Problem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93790" y="2345769"/>
            <a:ext cx="1304282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Injury burden and ED demand together show the size of the challenge: mortality remains high, while emergency volumes continue to grow.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4068" y="2964775"/>
            <a:ext cx="5765959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00"/>
              </a:lnSpc>
              <a:buNone/>
            </a:pPr>
            <a:r>
              <a:rPr lang="en-US" sz="5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271,729</a:t>
            </a:r>
            <a:endParaRPr lang="en-US" sz="5300" dirty="0"/>
          </a:p>
        </p:txBody>
      </p:sp>
      <p:sp>
        <p:nvSpPr>
          <p:cNvPr id="11" name="Text 9"/>
          <p:cNvSpPr/>
          <p:nvPr/>
        </p:nvSpPr>
        <p:spPr>
          <a:xfrm>
            <a:off x="2721173" y="387822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Injury Deaths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93790" y="4307205"/>
            <a:ext cx="640663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744/day in 2024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50254" y="2964775"/>
            <a:ext cx="5765959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00"/>
              </a:lnSpc>
              <a:buNone/>
            </a:pPr>
            <a:r>
              <a:rPr lang="en-US" sz="5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197,449</a:t>
            </a:r>
            <a:endParaRPr lang="en-US" sz="5300" dirty="0"/>
          </a:p>
        </p:txBody>
      </p:sp>
      <p:sp>
        <p:nvSpPr>
          <p:cNvPr id="14" name="Text 12"/>
          <p:cNvSpPr/>
          <p:nvPr/>
        </p:nvSpPr>
        <p:spPr>
          <a:xfrm>
            <a:off x="9357360" y="387822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Unintentional Deaths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29976" y="4307205"/>
            <a:ext cx="640663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 2024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4068" y="5086945"/>
            <a:ext cx="5765959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00"/>
              </a:lnSpc>
              <a:buNone/>
            </a:pPr>
            <a:r>
              <a:rPr lang="en-US" sz="5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139.8M</a:t>
            </a:r>
            <a:endParaRPr lang="en-US" sz="5300" dirty="0"/>
          </a:p>
        </p:txBody>
      </p:sp>
      <p:sp>
        <p:nvSpPr>
          <p:cNvPr id="17" name="Text 15"/>
          <p:cNvSpPr/>
          <p:nvPr/>
        </p:nvSpPr>
        <p:spPr>
          <a:xfrm>
            <a:off x="2721173" y="600039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Annual ED Visits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93790" y="6429375"/>
            <a:ext cx="640663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 year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50254" y="5086945"/>
            <a:ext cx="5765959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00"/>
              </a:lnSpc>
              <a:buNone/>
            </a:pPr>
            <a:r>
              <a:rPr lang="en-US" sz="5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+5%</a:t>
            </a:r>
            <a:endParaRPr lang="en-US" sz="5300" dirty="0"/>
          </a:p>
        </p:txBody>
      </p:sp>
      <p:sp>
        <p:nvSpPr>
          <p:cNvPr id="20" name="Text 18"/>
          <p:cNvSpPr/>
          <p:nvPr/>
        </p:nvSpPr>
        <p:spPr>
          <a:xfrm>
            <a:off x="9357360" y="600039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ED Growth Projection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29976" y="6429375"/>
            <a:ext cx="640663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forecast increase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93790" y="6946344"/>
            <a:ext cx="1304282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Source: CDC/NCHS Vital Statistics; Vizient 2025 Impact of Change Forecast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9737"/>
            <a:ext cx="7931706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Trauma System Gaps and Preventable Deaths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600200"/>
            <a:ext cx="4609505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Nearly 2,000 trauma centers across the U.S.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93790" y="2062520"/>
            <a:ext cx="789146" cy="971431"/>
          </a:xfrm>
          <a:prstGeom prst="roundRect">
            <a:avLst>
              <a:gd name="adj" fmla="val 3234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1068705" y="2398752"/>
            <a:ext cx="239197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752957" y="2232541"/>
            <a:ext cx="570190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Level I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752957" y="2625804"/>
            <a:ext cx="57019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213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67947" y="3024426"/>
            <a:ext cx="5354717" cy="11430"/>
          </a:xfrm>
          <a:prstGeom prst="roundRect">
            <a:avLst>
              <a:gd name="adj" fmla="val 223256"/>
            </a:avLst>
          </a:prstGeom>
          <a:solidFill>
            <a:srgbClr val="D8D4D4"/>
          </a:solidFill>
          <a:ln/>
        </p:spPr>
      </p:sp>
      <p:sp>
        <p:nvSpPr>
          <p:cNvPr id="9" name="Shape 7"/>
          <p:cNvSpPr/>
          <p:nvPr/>
        </p:nvSpPr>
        <p:spPr>
          <a:xfrm>
            <a:off x="793790" y="3118961"/>
            <a:ext cx="1578412" cy="971431"/>
          </a:xfrm>
          <a:prstGeom prst="roundRect">
            <a:avLst>
              <a:gd name="adj" fmla="val 2627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1463397" y="3455194"/>
            <a:ext cx="239197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2542222" y="3288983"/>
            <a:ext cx="63865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Level II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542222" y="3682246"/>
            <a:ext cx="63865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313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57212" y="4080867"/>
            <a:ext cx="4565452" cy="11430"/>
          </a:xfrm>
          <a:prstGeom prst="roundRect">
            <a:avLst>
              <a:gd name="adj" fmla="val 223256"/>
            </a:avLst>
          </a:prstGeom>
          <a:solidFill>
            <a:srgbClr val="D8D4D4"/>
          </a:solidFill>
          <a:ln/>
        </p:spPr>
      </p:sp>
      <p:sp>
        <p:nvSpPr>
          <p:cNvPr id="14" name="Shape 12"/>
          <p:cNvSpPr/>
          <p:nvPr/>
        </p:nvSpPr>
        <p:spPr>
          <a:xfrm>
            <a:off x="793790" y="4175403"/>
            <a:ext cx="2367677" cy="971431"/>
          </a:xfrm>
          <a:prstGeom prst="roundRect">
            <a:avLst>
              <a:gd name="adj" fmla="val 2627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1857970" y="4511635"/>
            <a:ext cx="239197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3331488" y="4345424"/>
            <a:ext cx="707112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Level III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331488" y="4738688"/>
            <a:ext cx="70711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470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46477" y="5137309"/>
            <a:ext cx="3776186" cy="11430"/>
          </a:xfrm>
          <a:prstGeom prst="roundRect">
            <a:avLst>
              <a:gd name="adj" fmla="val 223256"/>
            </a:avLst>
          </a:prstGeom>
          <a:solidFill>
            <a:srgbClr val="D8D4D4"/>
          </a:solidFill>
          <a:ln/>
        </p:spPr>
      </p:sp>
      <p:sp>
        <p:nvSpPr>
          <p:cNvPr id="19" name="Shape 17"/>
          <p:cNvSpPr/>
          <p:nvPr/>
        </p:nvSpPr>
        <p:spPr>
          <a:xfrm>
            <a:off x="793790" y="5231844"/>
            <a:ext cx="3156942" cy="971431"/>
          </a:xfrm>
          <a:prstGeom prst="roundRect">
            <a:avLst>
              <a:gd name="adj" fmla="val 2627"/>
            </a:avLst>
          </a:prstGeom>
          <a:solidFill>
            <a:srgbClr val="F2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2252663" y="5568077"/>
            <a:ext cx="239197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4120753" y="5401866"/>
            <a:ext cx="88796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Level IV/V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120753" y="5795129"/>
            <a:ext cx="88796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916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93790" y="6346746"/>
            <a:ext cx="6313884" cy="607933"/>
          </a:xfrm>
          <a:prstGeom prst="roundRect">
            <a:avLst>
              <a:gd name="adj" fmla="val 4198"/>
            </a:avLst>
          </a:prstGeom>
          <a:solidFill>
            <a:srgbClr val="B3C3FF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811" y="6578084"/>
            <a:ext cx="212646" cy="17002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346478" y="6516767"/>
            <a:ext cx="559117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29.7 million people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lacked 1-hour Level I/II access in the 2010 baseline.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530346" y="1616154"/>
            <a:ext cx="6313884" cy="607933"/>
          </a:xfrm>
          <a:prstGeom prst="roundRect">
            <a:avLst>
              <a:gd name="adj" fmla="val 4198"/>
            </a:avLst>
          </a:prstGeom>
          <a:solidFill>
            <a:srgbClr val="B3C3FF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367" y="1847493"/>
            <a:ext cx="212646" cy="170021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083034" y="1786176"/>
            <a:ext cx="559117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Up to 20%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(~</a:t>
            </a:r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30,000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) of U.S. trauma deaths may be preventable.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7530346" y="2367558"/>
            <a:ext cx="63138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Why it matters: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Gaps in access and capability mean some deaths could be avoided when patients reach the right level of care faster.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793790" y="7241619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Source: American College of Surgeons Trauma Systems Series; Population-based analysis (2017)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6877"/>
            <a:ext cx="9961245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Operational Failures Drive Measurable Harm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809631"/>
            <a:ext cx="130428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ED crowding and readmissions are connected operational failures — and both are measurable in mortality and cost.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38532" y="2376011"/>
            <a:ext cx="4262318" cy="3657838"/>
          </a:xfrm>
          <a:prstGeom prst="roundRect">
            <a:avLst>
              <a:gd name="adj" fmla="val 884"/>
            </a:avLst>
          </a:prstGeom>
          <a:solidFill>
            <a:srgbClr val="FDECEC"/>
          </a:solidFill>
          <a:ln/>
        </p:spPr>
      </p:sp>
      <p:sp>
        <p:nvSpPr>
          <p:cNvPr id="5" name="Shape 3"/>
          <p:cNvSpPr/>
          <p:nvPr/>
        </p:nvSpPr>
        <p:spPr>
          <a:xfrm>
            <a:off x="853916" y="2606278"/>
            <a:ext cx="3831550" cy="3197304"/>
          </a:xfrm>
          <a:prstGeom prst="roundRect">
            <a:avLst>
              <a:gd name="adj" fmla="val 1011"/>
            </a:avLst>
          </a:prstGeom>
          <a:solidFill>
            <a:srgbClr val="FDECEC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4396" y="2636758"/>
            <a:ext cx="3770590" cy="64639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08064" y="2798326"/>
            <a:ext cx="323136" cy="3231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9780" y="348781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1.24× Higher Odds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99780" y="4029075"/>
            <a:ext cx="3339822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In-hospital mortality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99780" y="4549378"/>
            <a:ext cx="3339822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Boarding ≥5.2 hours vs &lt;1.5 hours increases adjusted odds of in-hospital death.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5123736" y="2376011"/>
            <a:ext cx="4262318" cy="3657838"/>
          </a:xfrm>
          <a:prstGeom prst="roundRect">
            <a:avLst>
              <a:gd name="adj" fmla="val 884"/>
            </a:avLst>
          </a:prstGeom>
          <a:solidFill>
            <a:srgbClr val="EAF7EF"/>
          </a:solidFill>
          <a:ln/>
        </p:spPr>
      </p:sp>
      <p:sp>
        <p:nvSpPr>
          <p:cNvPr id="12" name="Shape 9"/>
          <p:cNvSpPr/>
          <p:nvPr/>
        </p:nvSpPr>
        <p:spPr>
          <a:xfrm>
            <a:off x="5339120" y="2606278"/>
            <a:ext cx="3831550" cy="3197304"/>
          </a:xfrm>
          <a:prstGeom prst="roundRect">
            <a:avLst>
              <a:gd name="adj" fmla="val 1011"/>
            </a:avLst>
          </a:prstGeom>
          <a:solidFill>
            <a:srgbClr val="EAF7E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369600" y="2636758"/>
            <a:ext cx="3770590" cy="64639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93268" y="2798326"/>
            <a:ext cx="323136" cy="3231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84984" y="348781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24% Lower Mortality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5584984" y="4029075"/>
            <a:ext cx="3339822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30-day mortality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5584984" y="4549378"/>
            <a:ext cx="3339822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10% crowding relief event was associated with lower 30-day mortality vs. baseline.</a:t>
            </a:r>
            <a:endParaRPr lang="en-US" sz="1650" dirty="0"/>
          </a:p>
        </p:txBody>
      </p:sp>
      <p:sp>
        <p:nvSpPr>
          <p:cNvPr id="18" name="Shape 14"/>
          <p:cNvSpPr/>
          <p:nvPr/>
        </p:nvSpPr>
        <p:spPr>
          <a:xfrm>
            <a:off x="9608939" y="2376011"/>
            <a:ext cx="4398050" cy="3657838"/>
          </a:xfrm>
          <a:prstGeom prst="roundRect">
            <a:avLst>
              <a:gd name="adj" fmla="val 884"/>
            </a:avLst>
          </a:prstGeom>
          <a:solidFill>
            <a:srgbClr val="EEF3FF"/>
          </a:solidFill>
          <a:ln/>
        </p:spPr>
      </p:sp>
      <p:sp>
        <p:nvSpPr>
          <p:cNvPr id="19" name="Shape 15"/>
          <p:cNvSpPr/>
          <p:nvPr/>
        </p:nvSpPr>
        <p:spPr>
          <a:xfrm>
            <a:off x="9824323" y="2606278"/>
            <a:ext cx="3967282" cy="3197304"/>
          </a:xfrm>
          <a:prstGeom prst="roundRect">
            <a:avLst>
              <a:gd name="adj" fmla="val 1011"/>
            </a:avLst>
          </a:prstGeom>
          <a:solidFill>
            <a:srgbClr val="EEF3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854803" y="2636758"/>
            <a:ext cx="3906322" cy="64639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46337" y="2798326"/>
            <a:ext cx="323136" cy="3231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070187" y="348781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$313.8M Annually</a:t>
            </a:r>
            <a:endParaRPr lang="en-US" sz="2100" dirty="0"/>
          </a:p>
        </p:txBody>
      </p:sp>
      <p:sp>
        <p:nvSpPr>
          <p:cNvPr id="23" name="Text 18"/>
          <p:cNvSpPr/>
          <p:nvPr/>
        </p:nvSpPr>
        <p:spPr>
          <a:xfrm>
            <a:off x="10070187" y="4029075"/>
            <a:ext cx="347555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Preventable readmission costs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10070187" y="4549378"/>
            <a:ext cx="3475553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Across 1.32M admissions, 10.4% were readmitted and 22.7% were preventable.</a:t>
            </a:r>
            <a:endParaRPr lang="en-US" sz="1650" dirty="0"/>
          </a:p>
        </p:txBody>
      </p:sp>
      <p:sp>
        <p:nvSpPr>
          <p:cNvPr id="25" name="Text 20"/>
          <p:cNvSpPr/>
          <p:nvPr/>
        </p:nvSpPr>
        <p:spPr>
          <a:xfrm>
            <a:off x="793790" y="6264116"/>
            <a:ext cx="13042821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Together, crowding, boarding, and avoidable readmissions form a cascade: delayed flow increases mortality risk and drives substantial avoidable cost.</a:t>
            </a:r>
            <a:endParaRPr lang="en-US" sz="1650" dirty="0"/>
          </a:p>
        </p:txBody>
      </p:sp>
      <p:sp>
        <p:nvSpPr>
          <p:cNvPr id="26" name="Text 21"/>
          <p:cNvSpPr/>
          <p:nvPr/>
        </p:nvSpPr>
        <p:spPr>
          <a:xfrm>
            <a:off x="793790" y="7166610"/>
            <a:ext cx="130428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Source: Annals of Emergency Medicine (2013); South Carolina ED study (2018); readmissions analysis (2025)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9486"/>
            <a:ext cx="904363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Policy Forcing Function: TEAM Model (2026–2030)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436251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CMS TEAM model makes the episode an operational scoreboard.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3790" y="1961317"/>
            <a:ext cx="6313884" cy="1020723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6650" y="1984177"/>
            <a:ext cx="680442" cy="97500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1029295" y="2312194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24608" y="215419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Mandatory Model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24608" y="2547461"/>
            <a:ext cx="529018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January 1, 2026 – December 31, 2030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3790" y="3109555"/>
            <a:ext cx="6313884" cy="1020723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6650" y="3132415"/>
            <a:ext cx="680442" cy="97500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1029295" y="3460433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24608" y="330243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Scope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624608" y="3695700"/>
            <a:ext cx="529018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Five surgical episodes through 30 days post-hospitalization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3790" y="4257794"/>
            <a:ext cx="6313884" cy="1020723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6650" y="4280654"/>
            <a:ext cx="680442" cy="97500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1029295" y="4608671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24608" y="445067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Participation Scale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24608" y="4843939"/>
            <a:ext cx="529018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~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741 acute care hospitals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188 markets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30346" y="1961317"/>
            <a:ext cx="3401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30346" y="2227540"/>
            <a:ext cx="6313884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1" name="Text 19"/>
          <p:cNvSpPr/>
          <p:nvPr/>
        </p:nvSpPr>
        <p:spPr>
          <a:xfrm>
            <a:off x="7530346" y="235827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2026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530346" y="2751534"/>
            <a:ext cx="631388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Mandatory start date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30346" y="3244691"/>
            <a:ext cx="3401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530346" y="3510915"/>
            <a:ext cx="6313884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5" name="Text 23"/>
          <p:cNvSpPr/>
          <p:nvPr/>
        </p:nvSpPr>
        <p:spPr>
          <a:xfrm>
            <a:off x="7530346" y="364164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2026–2030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530346" y="4034909"/>
            <a:ext cx="631388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Five-year episode model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30346" y="4528066"/>
            <a:ext cx="3401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530346" y="4794290"/>
            <a:ext cx="6313884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9" name="Text 27"/>
          <p:cNvSpPr/>
          <p:nvPr/>
        </p:nvSpPr>
        <p:spPr>
          <a:xfrm>
            <a:off x="7530346" y="4925020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30 days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7530346" y="5318284"/>
            <a:ext cx="631388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Post-hospitalization window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530346" y="5827395"/>
            <a:ext cx="6313884" cy="846058"/>
          </a:xfrm>
          <a:prstGeom prst="roundRect">
            <a:avLst>
              <a:gd name="adj" fmla="val 3016"/>
            </a:avLst>
          </a:prstGeom>
          <a:solidFill>
            <a:srgbClr val="B3C3FF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0367" y="6058733"/>
            <a:ext cx="212646" cy="170021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8083034" y="5997416"/>
            <a:ext cx="55911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insight: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Throughput, complications, and readmissions become financially visible at the episode level.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93790" y="6960394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Context: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This policy shift aligns perfectly with the need for spatial and operational intelligence to manage bundled-payment risk.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93790" y="7341989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Source: CMS TEAM Model Fact Sheet (2025); American College of Surgeons TEAM page (2026)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2026-04-10T17:43:55Z</dcterms:created>
  <dcterms:modified xsi:type="dcterms:W3CDTF">2026-04-10T17:43:55Z</dcterms:modified>
</cp:coreProperties>
</file>